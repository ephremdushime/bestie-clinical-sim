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FDBCB"/>
                </a:solidFill>
                <a:latin typeface="Aptos"/>
              </a:defRPr>
            </a:pPr>
            <a:r>
              <a:t>UNIVERSITY PILOT PROPOSAL  |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Bestie Clinical 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966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FFFFFF"/>
                </a:solidFill>
                <a:latin typeface="Aptos"/>
              </a:defRPr>
            </a:pPr>
            <a:r>
              <a:t>Interactive clinical practice for the next generation of healthcare professionals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D8E3EF"/>
                </a:solidFill>
                <a:latin typeface="Aptos"/>
              </a:defRPr>
            </a:pPr>
            <a:r>
              <a:t>A web-based virtual patient simulator with formative feedback, team collaboration, and a roadmap to voice, VR and 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0B4C7"/>
                </a:solidFill>
                <a:latin typeface="Aptos"/>
              </a:defRPr>
            </a:pPr>
            <a:r>
              <a:t>Proposed by Bestie Companies  •  For faculty discussion and co-design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9187"/>
                </a:solidFill>
                <a:latin typeface="Aptos"/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440"/>
                </a:solidFill>
                <a:latin typeface="Aptos"/>
              </a:defRPr>
            </a:pPr>
            <a:r>
              <a:t>Clinical competence needs practice—not only recall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54864"/>
          </a:xfrm>
          <a:prstGeom prst="rect">
            <a:avLst/>
          </a:prstGeom>
          <a:solidFill>
            <a:srgbClr val="15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20440" cy="1874519"/>
          </a:xfrm>
          <a:prstGeom prst="roundRect">
            <a:avLst/>
          </a:prstGeom>
          <a:solidFill>
            <a:srgbClr val="F0F6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73152" cy="1874519"/>
          </a:xfrm>
          <a:prstGeom prst="rect">
            <a:avLst/>
          </a:prstGeom>
          <a:solidFill>
            <a:srgbClr val="15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40"/>
                </a:solidFill>
                <a:latin typeface="Aptos"/>
              </a:defRPr>
            </a:pPr>
            <a:r>
              <a:t>Whole encounters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310896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3E"/>
                </a:solidFill>
                <a:latin typeface="Aptos"/>
              </a:defRPr>
            </a:pPr>
            <a:r>
              <a:t>Students need practice connecting communication, history, examination, investigations, reasoning and management.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520440" cy="1874519"/>
          </a:xfrm>
          <a:prstGeom prst="roundRect">
            <a:avLst/>
          </a:prstGeom>
          <a:solidFill>
            <a:srgbClr val="F0F6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73152" cy="1874519"/>
          </a:xfrm>
          <a:prstGeom prst="rect">
            <a:avLst/>
          </a:prstGeom>
          <a:solidFill>
            <a:srgbClr val="E5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40"/>
                </a:solidFill>
                <a:latin typeface="Aptos"/>
              </a:defRPr>
            </a:pPr>
            <a:r>
              <a:t>Safety and escalation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10896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3E"/>
                </a:solidFill>
                <a:latin typeface="Aptos"/>
              </a:defRPr>
            </a:pPr>
            <a:r>
              <a:t>Learners must recognize danger signs, know their limits, and practise referral and structured handover.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520440" cy="1874519"/>
          </a:xfrm>
          <a:prstGeom prst="roundRect">
            <a:avLst/>
          </a:prstGeom>
          <a:solidFill>
            <a:srgbClr val="F0F6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91640"/>
            <a:ext cx="73152" cy="1874519"/>
          </a:xfrm>
          <a:prstGeom prst="rect">
            <a:avLst/>
          </a:prstGeom>
          <a:solidFill>
            <a:srgbClr val="15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874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40"/>
                </a:solidFill>
                <a:latin typeface="Aptos"/>
              </a:defRPr>
            </a:pPr>
            <a:r>
              <a:t>Feedback and repetition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77440"/>
            <a:ext cx="310896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3E"/>
                </a:solidFill>
                <a:latin typeface="Aptos"/>
              </a:defRPr>
            </a:pPr>
            <a:r>
              <a:t>A simulation can be repeated consistently, reviewed by educators, and used to identify areas for more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10332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440"/>
                </a:solidFill>
                <a:latin typeface="Aptos"/>
              </a:defRPr>
            </a:pPr>
            <a:r>
              <a:t>Local validation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627080"/>
                </a:solidFill>
                <a:latin typeface="Aptos"/>
              </a:defRPr>
            </a:pPr>
            <a:r>
              <a:t>The pilot will test usability and educational fit with University guidance. We will not claim improved learning outcomes until evidence supports that conclusion.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9187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440"/>
                </a:solidFill>
                <a:latin typeface="Aptos"/>
              </a:defRPr>
            </a:pPr>
            <a:r>
              <a:t>One encounter, from first words to safe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54864"/>
          </a:xfrm>
          <a:prstGeom prst="rect">
            <a:avLst/>
          </a:prstGeom>
          <a:solidFill>
            <a:srgbClr val="15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429000" cy="1508760"/>
          </a:xfrm>
          <a:prstGeom prst="roundRect">
            <a:avLst/>
          </a:prstGeom>
          <a:solidFill>
            <a:srgbClr val="F0F6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73152" cy="1508760"/>
          </a:xfrm>
          <a:prstGeom prst="rect">
            <a:avLst/>
          </a:prstGeom>
          <a:solidFill>
            <a:srgbClr val="15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40"/>
                </a:solidFill>
                <a:latin typeface="Aptos"/>
              </a:defRPr>
            </a:pPr>
            <a:r>
              <a:t>01  Meet &amp; listen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175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3E"/>
                </a:solidFill>
                <a:latin typeface="Aptos"/>
              </a:defRPr>
            </a:pPr>
            <a:r>
              <a:t>Rapport, consent, focused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429000" cy="1508760"/>
          </a:xfrm>
          <a:prstGeom prst="roundRect">
            <a:avLst/>
          </a:prstGeom>
          <a:solidFill>
            <a:srgbClr val="F0F6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737360"/>
            <a:ext cx="73152" cy="1508760"/>
          </a:xfrm>
          <a:prstGeom prst="rect">
            <a:avLst/>
          </a:prstGeom>
          <a:solidFill>
            <a:srgbClr val="15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920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40"/>
                </a:solidFill>
                <a:latin typeface="Aptos"/>
              </a:defRPr>
            </a:pPr>
            <a:r>
              <a:t>02  Assess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23160"/>
            <a:ext cx="30175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3E"/>
                </a:solidFill>
                <a:latin typeface="Aptos"/>
              </a:defRPr>
            </a:pPr>
            <a:r>
              <a:t>Observations, examination requests, danger signs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37360"/>
            <a:ext cx="3429000" cy="1508760"/>
          </a:xfrm>
          <a:prstGeom prst="roundRect">
            <a:avLst/>
          </a:prstGeom>
          <a:solidFill>
            <a:srgbClr val="F0F6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737360"/>
            <a:ext cx="73152" cy="1508760"/>
          </a:xfrm>
          <a:prstGeom prst="rect">
            <a:avLst/>
          </a:prstGeom>
          <a:solidFill>
            <a:srgbClr val="15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40"/>
                </a:solidFill>
                <a:latin typeface="Aptos"/>
              </a:defRPr>
            </a:pPr>
            <a:r>
              <a:t>03  Investigate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23160"/>
            <a:ext cx="30175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3E"/>
                </a:solidFill>
                <a:latin typeface="Aptos"/>
              </a:defRPr>
            </a:pPr>
            <a:r>
              <a:t>Select tests and interpret approved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3429000" cy="1508760"/>
          </a:xfrm>
          <a:prstGeom prst="roundRect">
            <a:avLst/>
          </a:prstGeom>
          <a:solidFill>
            <a:srgbClr val="F0F6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03320"/>
            <a:ext cx="73152" cy="1508760"/>
          </a:xfrm>
          <a:prstGeom prst="rect">
            <a:avLst/>
          </a:prstGeom>
          <a:solidFill>
            <a:srgbClr val="E5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86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40"/>
                </a:solidFill>
                <a:latin typeface="Aptos"/>
              </a:defRPr>
            </a:pPr>
            <a:r>
              <a:t>04  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30175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3E"/>
                </a:solidFill>
                <a:latin typeface="Aptos"/>
              </a:defRPr>
            </a:pPr>
            <a:r>
              <a:t>Differential and safe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703320"/>
            <a:ext cx="3429000" cy="1508760"/>
          </a:xfrm>
          <a:prstGeom prst="roundRect">
            <a:avLst/>
          </a:prstGeom>
          <a:solidFill>
            <a:srgbClr val="F0F6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703320"/>
            <a:ext cx="73152" cy="1508760"/>
          </a:xfrm>
          <a:prstGeom prst="rect">
            <a:avLst/>
          </a:prstGeom>
          <a:solidFill>
            <a:srgbClr val="E5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886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40"/>
                </a:solidFill>
                <a:latin typeface="Aptos"/>
              </a:defRPr>
            </a:pPr>
            <a:r>
              <a:t>05  Escalate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389120"/>
            <a:ext cx="30175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3E"/>
                </a:solidFill>
                <a:latin typeface="Aptos"/>
              </a:defRPr>
            </a:pPr>
            <a:r>
              <a:t>Referral, transfer and handover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703320"/>
            <a:ext cx="3429000" cy="1508760"/>
          </a:xfrm>
          <a:prstGeom prst="roundRect">
            <a:avLst/>
          </a:prstGeom>
          <a:solidFill>
            <a:srgbClr val="F0F6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703320"/>
            <a:ext cx="73152" cy="1508760"/>
          </a:xfrm>
          <a:prstGeom prst="rect">
            <a:avLst/>
          </a:prstGeom>
          <a:solidFill>
            <a:srgbClr val="15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886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40"/>
                </a:solidFill>
                <a:latin typeface="Aptos"/>
              </a:defRPr>
            </a:pPr>
            <a:r>
              <a:t>06  Reflect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389120"/>
            <a:ext cx="30175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3E"/>
                </a:solidFill>
                <a:latin typeface="Aptos"/>
              </a:defRPr>
            </a:pPr>
            <a:r>
              <a:t>Formative feedback and 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9436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27080"/>
                </a:solidFill>
                <a:latin typeface="Aptos"/>
              </a:defRPr>
            </a:pPr>
            <a:r>
              <a:t>The case engine controls the fictional facts and branches; AI supports conversation, not clinical authority.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9187"/>
                </a:solidFill>
                <a:latin typeface="Aptos"/>
              </a:defRPr>
            </a:pPr>
            <a:r>
              <a:t>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440"/>
                </a:solidFill>
                <a:latin typeface="Aptos"/>
              </a:defRPr>
            </a:pPr>
            <a:r>
              <a:t>A phased platform designed to grow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54864"/>
          </a:xfrm>
          <a:prstGeom prst="rect">
            <a:avLst/>
          </a:prstGeom>
          <a:solidFill>
            <a:srgbClr val="15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429000" cy="3063240"/>
          </a:xfrm>
          <a:prstGeom prst="roundRect">
            <a:avLst/>
          </a:prstGeom>
          <a:solidFill>
            <a:srgbClr val="F0F6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73152" cy="3063240"/>
          </a:xfrm>
          <a:prstGeom prst="rect">
            <a:avLst/>
          </a:prstGeom>
          <a:solidFill>
            <a:srgbClr val="15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40"/>
                </a:solidFill>
                <a:latin typeface="Aptos"/>
              </a:defRPr>
            </a:pPr>
            <a:r>
              <a:t>Phase 1 ·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3E"/>
                </a:solidFill>
                <a:latin typeface="Aptos"/>
              </a:defRPr>
            </a:pPr>
            <a:r>
              <a:t>Interactive text patient</a:t>
            </a:r>
            <a:br/>
            <a:br/>
            <a:r>
              <a:t>Branching case facts</a:t>
            </a:r>
            <a:br/>
            <a:br/>
            <a:r>
              <a:t>Structured investigations and decisions</a:t>
            </a:r>
            <a:br/>
            <a:br/>
            <a:r>
              <a:t>Formative rubric and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29000" cy="3063240"/>
          </a:xfrm>
          <a:prstGeom prst="roundRect">
            <a:avLst/>
          </a:prstGeom>
          <a:solidFill>
            <a:srgbClr val="F0F6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73152" cy="3063240"/>
          </a:xfrm>
          <a:prstGeom prst="rect">
            <a:avLst/>
          </a:prstGeom>
          <a:solidFill>
            <a:srgbClr val="E5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40"/>
                </a:solidFill>
                <a:latin typeface="Aptos"/>
              </a:defRPr>
            </a:pPr>
            <a:r>
              <a:t>Phase 2 · Voice &amp;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231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3E"/>
                </a:solidFill>
                <a:latin typeface="Aptos"/>
              </a:defRPr>
            </a:pPr>
            <a:r>
              <a:t>Spoken consultations and adjustable pace</a:t>
            </a:r>
            <a:br/>
            <a:br/>
            <a:r>
              <a:t>Speech transcription</a:t>
            </a:r>
            <a:br/>
            <a:br/>
            <a:r>
              <a:t>Real-time student collaboration</a:t>
            </a:r>
            <a:br/>
            <a:br/>
            <a:r>
              <a:t>Educator observation and 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37360"/>
            <a:ext cx="3429000" cy="3063240"/>
          </a:xfrm>
          <a:prstGeom prst="roundRect">
            <a:avLst/>
          </a:prstGeom>
          <a:solidFill>
            <a:srgbClr val="F0F6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737360"/>
            <a:ext cx="73152" cy="3063240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40"/>
                </a:solidFill>
                <a:latin typeface="Aptos"/>
              </a:defRPr>
            </a:pPr>
            <a:r>
              <a:t>Future · VR / 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2316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3E"/>
                </a:solidFill>
                <a:latin typeface="Aptos"/>
              </a:defRPr>
            </a:pPr>
            <a:r>
              <a:t>Immersive clinical environments</a:t>
            </a:r>
            <a:br/>
            <a:br/>
            <a:r>
              <a:t>Virtual examination and equipment</a:t>
            </a:r>
            <a:br/>
            <a:br/>
            <a:r>
              <a:t>AR overlays for approved training</a:t>
            </a:r>
            <a:br/>
            <a:br/>
            <a:r>
              <a:t>Shared case logic across interfaces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27080"/>
                </a:solidFill>
                <a:latin typeface="Aptos"/>
              </a:defRPr>
            </a:pPr>
            <a:r>
              <a:t>Current build: a development prototype with a draft case engine. Faculty review and controlled testing are the next gates.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9187"/>
                </a:solidFill>
                <a:latin typeface="Aptos"/>
              </a:defRPr>
            </a:pPr>
            <a:r>
              <a:t>PROPOSED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440"/>
                </a:solidFill>
                <a:latin typeface="Aptos"/>
              </a:defRPr>
            </a:pPr>
            <a:r>
              <a:t>A small, supervised pilot—then an evidence-based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54864"/>
          </a:xfrm>
          <a:prstGeom prst="rect">
            <a:avLst/>
          </a:prstGeom>
          <a:solidFill>
            <a:srgbClr val="15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429000" cy="2011680"/>
          </a:xfrm>
          <a:prstGeom prst="roundRect">
            <a:avLst/>
          </a:prstGeom>
          <a:solidFill>
            <a:srgbClr val="F0F6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2011680"/>
          </a:xfrm>
          <a:prstGeom prst="rect">
            <a:avLst/>
          </a:prstGeom>
          <a:solidFill>
            <a:srgbClr val="15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40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3E"/>
                </a:solidFill>
                <a:latin typeface="Aptos"/>
              </a:defRPr>
            </a:pPr>
            <a:r>
              <a:t>One fictional acute-respiratory case, one draft rubric, student interface, team room and educator activity 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429000" cy="2011680"/>
          </a:xfrm>
          <a:prstGeom prst="roundRect">
            <a:avLst/>
          </a:prstGeom>
          <a:solidFill>
            <a:srgbClr val="F0F6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73152" cy="2011680"/>
          </a:xfrm>
          <a:prstGeom prst="rect">
            <a:avLst/>
          </a:prstGeom>
          <a:solidFill>
            <a:srgbClr val="E5A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40"/>
                </a:solidFill>
                <a:latin typeface="Aptos"/>
              </a:defRPr>
            </a:pPr>
            <a:r>
              <a:t>Co-design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77440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3E"/>
                </a:solidFill>
                <a:latin typeface="Aptos"/>
              </a:defRPr>
            </a:pPr>
            <a:r>
              <a:t>Faculty sponsor and clinical educators review case facts, acceptable actions, local referral expectations and assessment language.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91640"/>
            <a:ext cx="3429000" cy="2011680"/>
          </a:xfrm>
          <a:prstGeom prst="roundRect">
            <a:avLst/>
          </a:prstGeom>
          <a:solidFill>
            <a:srgbClr val="F0F6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691640"/>
            <a:ext cx="73152" cy="2011680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74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440"/>
                </a:solidFill>
                <a:latin typeface="Aptos"/>
              </a:defRPr>
            </a:pPr>
            <a:r>
              <a:t>Measures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303E"/>
                </a:solidFill>
                <a:latin typeface="Aptos"/>
              </a:defRPr>
            </a:pPr>
            <a:r>
              <a:t>Usability, completion rate, technical reliability, learner/educator feedback, case consistency and agreement with expert review.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2440"/>
                </a:solidFill>
                <a:latin typeface="Aptos"/>
              </a:defRPr>
            </a:pPr>
            <a:r>
              <a:t>Suggested 4-week 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400">
                <a:solidFill>
                  <a:srgbClr val="23303E"/>
                </a:solidFill>
                <a:latin typeface="Aptos"/>
              </a:defRPr>
            </a:pPr>
            <a:r>
              <a:t>•  Week 1: faculty review, case/rubric refinement, privacy and access review.</a:t>
            </a:r>
          </a:p>
          <a:p>
            <a:pPr>
              <a:spcAft>
                <a:spcPts val="1500"/>
              </a:spcAft>
              <a:defRPr sz="1400">
                <a:solidFill>
                  <a:srgbClr val="23303E"/>
                </a:solidFill>
                <a:latin typeface="Aptos"/>
              </a:defRPr>
            </a:pPr>
            <a:r>
              <a:t>•  Week 2: technical walkthrough with 3–5 internal testers.</a:t>
            </a:r>
          </a:p>
          <a:p>
            <a:pPr>
              <a:spcAft>
                <a:spcPts val="1500"/>
              </a:spcAft>
              <a:defRPr sz="1400">
                <a:solidFill>
                  <a:srgbClr val="23303E"/>
                </a:solidFill>
                <a:latin typeface="Aptos"/>
              </a:defRPr>
            </a:pPr>
            <a:r>
              <a:t>•  Week 3: supervised learner usability pilot only after applicable approvals.</a:t>
            </a:r>
          </a:p>
          <a:p>
            <a:pPr>
              <a:spcAft>
                <a:spcPts val="1500"/>
              </a:spcAft>
              <a:defRPr sz="1400">
                <a:solidFill>
                  <a:srgbClr val="23303E"/>
                </a:solidFill>
                <a:latin typeface="Aptos"/>
              </a:defRPr>
            </a:pPr>
            <a:r>
              <a:t>•  Week 4: report findings, limitations and a recommendation to iterate or expand.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9187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440"/>
                </a:solidFill>
                <a:latin typeface="Aptos"/>
              </a:defRPr>
            </a:pPr>
            <a:r>
              <a:t>Safety, ethics and academic oversight are non-negotiable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60120" cy="54864"/>
          </a:xfrm>
          <a:prstGeom prst="rect">
            <a:avLst/>
          </a:prstGeom>
          <a:solidFill>
            <a:srgbClr val="15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3303E"/>
                </a:solidFill>
                <a:latin typeface="Aptos"/>
              </a:defRPr>
            </a:pPr>
            <a:r>
              <a:t>•  Fictional cases only; no real patient-identifiable data in the pilot.</a:t>
            </a:r>
          </a:p>
          <a:p>
            <a:pPr>
              <a:spcAft>
                <a:spcPts val="1500"/>
              </a:spcAft>
              <a:defRPr sz="1700">
                <a:solidFill>
                  <a:srgbClr val="23303E"/>
                </a:solidFill>
                <a:latin typeface="Aptos"/>
              </a:defRPr>
            </a:pPr>
            <a:r>
              <a:t>•  Clinical educator approval required before learners use the case as an educational activity.</a:t>
            </a:r>
          </a:p>
          <a:p>
            <a:pPr>
              <a:spcAft>
                <a:spcPts val="1500"/>
              </a:spcAft>
              <a:defRPr sz="1700">
                <a:solidFill>
                  <a:srgbClr val="23303E"/>
                </a:solidFill>
                <a:latin typeface="Aptos"/>
              </a:defRPr>
            </a:pPr>
            <a:r>
              <a:t>•  Automated scores are formative and unvalidated—not for progression, credentialing or high-stakes decisions.</a:t>
            </a:r>
          </a:p>
          <a:p>
            <a:pPr>
              <a:spcAft>
                <a:spcPts val="1500"/>
              </a:spcAft>
              <a:defRPr sz="1700">
                <a:solidFill>
                  <a:srgbClr val="23303E"/>
                </a:solidFill>
                <a:latin typeface="Aptos"/>
              </a:defRPr>
            </a:pPr>
            <a:r>
              <a:t>•  AI can produce incorrect or inconsistent responses; educators retain oversight.</a:t>
            </a:r>
          </a:p>
          <a:p>
            <a:pPr>
              <a:spcAft>
                <a:spcPts val="1500"/>
              </a:spcAft>
              <a:defRPr sz="1700">
                <a:solidFill>
                  <a:srgbClr val="23303E"/>
                </a:solidFill>
                <a:latin typeface="Aptos"/>
              </a:defRPr>
            </a:pPr>
            <a:r>
              <a:t>•  Any research involving students or educational outcomes follows the relevant institutional ethics and consent process.</a:t>
            </a:r>
          </a:p>
          <a:p>
            <a:pPr>
              <a:spcAft>
                <a:spcPts val="1500"/>
              </a:spcAft>
              <a:defRPr sz="1700">
                <a:solidFill>
                  <a:srgbClr val="23303E"/>
                </a:solidFill>
                <a:latin typeface="Aptos"/>
              </a:defRPr>
            </a:pPr>
            <a:r>
              <a:t>•  Controlled access, HTTPS, token management, data retention and backup procedures before hosted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FDBCB"/>
                </a:solidFill>
                <a:latin typeface="Aptos"/>
              </a:defRPr>
            </a:pPr>
            <a:r>
              <a:t>THE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Help us build this with the University—not around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FDBC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Faculty sponsor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420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FDBC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542032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Clinical case &amp; rubric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5526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FDBC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55264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Guidance on curriculum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6849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FDBC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968496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Permission to plan a supervised usability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74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D8E3EF"/>
                </a:solidFill>
                <a:latin typeface="Aptos"/>
              </a:defRPr>
            </a:pPr>
            <a:r>
              <a:t>Our goal: a locally relevant, educator-guided practice environment that complements—not replaces—clinical placements and teaching.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1722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0B4C7"/>
                </a:solidFill>
                <a:latin typeface="Aptos"/>
              </a:defRPr>
            </a:pPr>
            <a:r>
              <a:t>Bestie Clinical Sim  |  Faculty discussion draft  | 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